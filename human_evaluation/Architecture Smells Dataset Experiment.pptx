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5" r:id="rId4"/>
    <p:sldId id="257" r:id="rId5"/>
    <p:sldId id="258" r:id="rId6"/>
    <p:sldId id="259" r:id="rId7"/>
    <p:sldId id="260" r:id="rId8"/>
    <p:sldId id="264" r:id="rId9"/>
    <p:sldId id="262" r:id="rId10"/>
    <p:sldId id="263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962D99-E004-4060-B17A-BD0F408953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E9F792F-2ECE-3086-5CE0-CEA02003C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AFF108-7893-21B1-0510-391C9B7E5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DBEBF-14E7-40B6-9D09-02C98D0F5A5F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C09642-47EE-C105-4168-95CE749FD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BD33DD-1885-6AA7-0CA5-7F2DB2928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305AD-CFB3-48C3-9B23-1F2BB0D0DD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09842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61D08A-A035-DBA1-0D2E-38D05621A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237A70F-EA5F-26EF-08E5-1AC7A9DF77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A4E6FD-6445-FEB9-BDCC-A3DABB25E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DBEBF-14E7-40B6-9D09-02C98D0F5A5F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C638069-8723-901C-C8AF-658952FD5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83CE42-A7FB-2609-272C-B950AE69E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305AD-CFB3-48C3-9B23-1F2BB0D0DD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1574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32C70-2ED6-C1AB-7218-643DB7CE7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940430B-330E-1749-DDB4-9BD6555CF9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76CCD6-B68F-1AF4-1BCA-5FA85536B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DBEBF-14E7-40B6-9D09-02C98D0F5A5F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CD5FD73-9D93-89F4-72BB-986BF1060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2583CF-3553-3D58-5A54-716579BD4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305AD-CFB3-48C3-9B23-1F2BB0D0DD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2272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795E82-6A65-E11D-BB23-802D6A82A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92CB8D-44F4-84A0-517F-0A74F104D1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A54B25E-78D7-D97A-2F89-610A0F20E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2C3A07F-3F85-BB9E-D880-95708CBD4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DBEBF-14E7-40B6-9D09-02C98D0F5A5F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B62184-424B-A030-891C-BB72FCC0D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28BD475-41F3-DD93-E9FC-D25D84C44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305AD-CFB3-48C3-9B23-1F2BB0D0DD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1753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170012-8242-D709-8F5C-569FFE8B2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9CF7BAD-9ABF-6E7D-3A4B-B899D80EAA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E3FC780-5D0E-F7C0-82FC-9732815EAA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CD319CF-891E-2876-F8C5-EA69128367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E43161-7228-4A1E-A269-C7EEEE774B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5881923-782D-0127-0C65-7A6EF9832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DBEBF-14E7-40B6-9D09-02C98D0F5A5F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7709F72-AA7A-B9C2-0C54-F8361EB30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986AB82-A6F7-A75A-E5B6-CA3D6AB53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305AD-CFB3-48C3-9B23-1F2BB0D0DD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7538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F07E00-C51A-E147-AD38-A62FA5165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9471D9B-0650-F0C9-62F5-1E33B39A5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DBEBF-14E7-40B6-9D09-02C98D0F5A5F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CB8A833-3BC8-23AD-D625-684897953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9A52D55-3471-04A8-790F-7899101788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305AD-CFB3-48C3-9B23-1F2BB0D0DD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19725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11F5518-CF8A-2BD4-C7DB-2ED25166F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DBEBF-14E7-40B6-9D09-02C98D0F5A5F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6A0188D-C11D-7E50-F0C0-5D4A0F4DC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5C719B1-3D3F-8A89-FA2A-9FCAFF209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305AD-CFB3-48C3-9B23-1F2BB0D0DD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60190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031517-C8C9-F74A-8DCC-F4BA32612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96EB39-89E1-1DDE-28C8-44EA1A81D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888294C-C7A0-A2AD-3B96-D05C3C2DF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44C1AC-175A-348E-3794-2214AF6A0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DBEBF-14E7-40B6-9D09-02C98D0F5A5F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C64961C-16D9-0D29-1D29-2EDF5E148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189B865-A9E2-8686-3003-AEB42CF84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305AD-CFB3-48C3-9B23-1F2BB0D0DD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855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105714-473E-1D38-8B90-99AF885A4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E44CE14-3D4A-BCE8-BA5A-AA411ED8C5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8FBF547-E777-5FA5-2D9B-25E52C4AC7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BBAF606-0F77-4671-42D9-F11AA92D4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DBEBF-14E7-40B6-9D09-02C98D0F5A5F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96EC08-733A-0821-318B-D36FB08B3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4D7B512-E4E7-9874-188B-751E04A45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305AD-CFB3-48C3-9B23-1F2BB0D0DD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6951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2D170-1989-7527-A8BB-0CDBB99B1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7033B08-9652-4354-08A7-29D8D1496F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BAC319-E509-81B6-34E8-F846949A1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DBEBF-14E7-40B6-9D09-02C98D0F5A5F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03E4E1-CE67-9A17-47F2-2729C6765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C8F894-31F2-B812-A784-97778BC8B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305AD-CFB3-48C3-9B23-1F2BB0D0DD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6684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2F71C16-167B-20DC-91EB-AC2E0A766C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ED633CC-E837-A206-603D-BE36E62DF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C3B7ED-3B60-488E-6CBC-76ACEED6E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DBEBF-14E7-40B6-9D09-02C98D0F5A5F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467AF-AED1-4F7D-BB69-EAB3A3704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0D8EFC-A54E-AC5A-CB46-2B5FFC1D7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0305AD-CFB3-48C3-9B23-1F2BB0D0DD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9397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8C0516F-58C4-8086-1634-F6EB3F682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9ACB083-90CE-2BDF-129B-5DF53FC6A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33892B1-2DDB-1ED6-8ABE-1717D92819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ADBEBF-14E7-40B6-9D09-02C98D0F5A5F}" type="datetimeFigureOut">
              <a:rPr lang="pt-BR" smtClean="0"/>
              <a:t>19/02/2026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BA436F3-A4A3-9E7B-E478-F2A52C196F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56D7541-8757-FF5B-8704-F774F9992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0305AD-CFB3-48C3-9B23-1F2BB0D0DDD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0225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esignite-tools.com/docs/features_cs_new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designite-tools.com/docs/features_cs_new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E2E08E-A5BC-8D0D-9D06-0E2EA77880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err="1"/>
              <a:t>Architecture</a:t>
            </a:r>
            <a:r>
              <a:rPr lang="pt-BR" dirty="0"/>
              <a:t> </a:t>
            </a:r>
            <a:r>
              <a:rPr lang="pt-BR" dirty="0" err="1"/>
              <a:t>Smells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 </a:t>
            </a:r>
            <a:r>
              <a:rPr lang="pt-BR" dirty="0" err="1"/>
              <a:t>Experiment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5026620-6AC7-8220-6145-405579FCB6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1225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0CA335-DEF6-C9A6-8C28-8755B07C5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Welcome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32717C-63FC-51B3-4FE2-9AEA369BF5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pt-BR" dirty="0" err="1"/>
              <a:t>We</a:t>
            </a:r>
            <a:r>
              <a:rPr lang="pt-BR" dirty="0"/>
              <a:t> invite </a:t>
            </a:r>
            <a:r>
              <a:rPr lang="pt-BR" dirty="0" err="1"/>
              <a:t>you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help </a:t>
            </a:r>
            <a:r>
              <a:rPr lang="pt-BR" dirty="0" err="1"/>
              <a:t>us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build </a:t>
            </a:r>
            <a:r>
              <a:rPr lang="pt-BR" dirty="0" err="1"/>
              <a:t>an</a:t>
            </a:r>
            <a:r>
              <a:rPr lang="pt-BR" dirty="0"/>
              <a:t> </a:t>
            </a:r>
            <a:r>
              <a:rPr lang="pt-BR" dirty="0" err="1"/>
              <a:t>architecture</a:t>
            </a:r>
            <a:r>
              <a:rPr lang="pt-BR" dirty="0"/>
              <a:t> </a:t>
            </a:r>
            <a:r>
              <a:rPr lang="pt-BR" dirty="0" err="1"/>
              <a:t>smell</a:t>
            </a:r>
            <a:r>
              <a:rPr lang="pt-BR" dirty="0"/>
              <a:t> </a:t>
            </a:r>
            <a:r>
              <a:rPr lang="pt-BR" dirty="0" err="1"/>
              <a:t>annotated</a:t>
            </a:r>
            <a:r>
              <a:rPr lang="pt-BR" dirty="0"/>
              <a:t> </a:t>
            </a:r>
            <a:r>
              <a:rPr lang="pt-BR" dirty="0" err="1"/>
              <a:t>dataset</a:t>
            </a:r>
            <a:r>
              <a:rPr lang="pt-BR" dirty="0"/>
              <a:t>.</a:t>
            </a:r>
          </a:p>
          <a:p>
            <a:endParaRPr lang="en-US" dirty="0"/>
          </a:p>
          <a:p>
            <a:r>
              <a:rPr lang="en-US" dirty="0"/>
              <a:t>There are no right or wrong answers.</a:t>
            </a:r>
          </a:p>
          <a:p>
            <a:endParaRPr lang="en-US" dirty="0"/>
          </a:p>
          <a:p>
            <a:r>
              <a:rPr lang="en-US" dirty="0"/>
              <a:t>The goal is to create a dataset based on human perception of software architectures.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98248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6E0C17-E1F3-11E7-38C9-D83B1D810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Architecture</a:t>
            </a:r>
            <a:r>
              <a:rPr lang="pt-BR" dirty="0"/>
              <a:t> </a:t>
            </a:r>
            <a:r>
              <a:rPr lang="pt-BR" dirty="0" err="1"/>
              <a:t>Smells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BA17593-94A2-B02E-2BC2-4EA1F8ECF0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r>
              <a:rPr lang="en-US" dirty="0"/>
              <a:t>Architecture smells are indicators of poor architectural design that affect multiple components and impact the entire system.</a:t>
            </a:r>
          </a:p>
          <a:p>
            <a:r>
              <a:rPr lang="en-US" dirty="0"/>
              <a:t>In these study you need to evaluated the following smells:</a:t>
            </a:r>
          </a:p>
          <a:p>
            <a:pPr lvl="1"/>
            <a:r>
              <a:rPr lang="en-US" sz="2800" dirty="0"/>
              <a:t>God Component</a:t>
            </a:r>
          </a:p>
          <a:p>
            <a:pPr lvl="1"/>
            <a:r>
              <a:rPr lang="en-US" sz="2800" dirty="0"/>
              <a:t>Unstable Dependency</a:t>
            </a:r>
          </a:p>
          <a:p>
            <a:pPr lvl="1"/>
            <a:r>
              <a:rPr lang="en-US" sz="2800" dirty="0"/>
              <a:t>Insufficient Modularization</a:t>
            </a:r>
          </a:p>
          <a:p>
            <a:pPr lvl="1"/>
            <a:r>
              <a:rPr lang="en-US" sz="2800" dirty="0"/>
              <a:t>Hub-like Modularization</a:t>
            </a:r>
          </a:p>
          <a:p>
            <a:r>
              <a:rPr lang="en-US" dirty="0"/>
              <a:t>In the next slides, we present the main concepts of each of these smells.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17657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D79605-3816-A279-4359-8A8AC8180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God</a:t>
            </a:r>
            <a:r>
              <a:rPr lang="pt-BR" dirty="0"/>
              <a:t> </a:t>
            </a:r>
            <a:r>
              <a:rPr lang="pt-BR" dirty="0" err="1"/>
              <a:t>Component</a:t>
            </a:r>
            <a:r>
              <a:rPr lang="pt-BR" dirty="0"/>
              <a:t> - </a:t>
            </a:r>
            <a:r>
              <a:rPr lang="pt-BR" dirty="0" err="1"/>
              <a:t>Definition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BE8910-52EA-F490-E5E9-2A415C0FE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03426" cy="4351338"/>
          </a:xfrm>
        </p:spPr>
        <p:txBody>
          <a:bodyPr anchor="ctr"/>
          <a:lstStyle/>
          <a:p>
            <a:r>
              <a:rPr lang="en-US" dirty="0"/>
              <a:t>This smell occurs when a component is excessively large either in terms of Lines Of Code (LOC) or the number of classes (NOC)</a:t>
            </a:r>
            <a:endParaRPr lang="pt-BR" dirty="0"/>
          </a:p>
        </p:txBody>
      </p:sp>
      <p:pic>
        <p:nvPicPr>
          <p:cNvPr id="5" name="Imagem 4" descr="Texto&#10;&#10;O conteúdo gerado por IA pode estar incorreto.">
            <a:extLst>
              <a:ext uri="{FF2B5EF4-FFF2-40B4-BE49-F238E27FC236}">
                <a16:creationId xmlns:a16="http://schemas.microsoft.com/office/drawing/2014/main" id="{F90615B2-D120-85B3-4A9A-1F5BDEE129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671" y="2506662"/>
            <a:ext cx="4283439" cy="2855626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91FCCB6D-EDFE-2B4E-C7DF-600A7D38636F}"/>
              </a:ext>
            </a:extLst>
          </p:cNvPr>
          <p:cNvSpPr txBox="1"/>
          <p:nvPr/>
        </p:nvSpPr>
        <p:spPr>
          <a:xfrm>
            <a:off x="6990343" y="5362288"/>
            <a:ext cx="2356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generated</a:t>
            </a:r>
            <a:r>
              <a:rPr lang="pt-BR" i="1" dirty="0"/>
              <a:t> </a:t>
            </a:r>
            <a:r>
              <a:rPr lang="pt-BR" i="1" dirty="0" err="1"/>
              <a:t>by</a:t>
            </a:r>
            <a:r>
              <a:rPr lang="pt-BR" i="1" dirty="0"/>
              <a:t> </a:t>
            </a:r>
            <a:r>
              <a:rPr lang="pt-BR" i="1" dirty="0" err="1"/>
              <a:t>chatGPT</a:t>
            </a: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67308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EA5DD-7458-25B4-D05B-7367491A5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137F88-2A52-8029-8EDE-715C80D34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Unstable</a:t>
            </a:r>
            <a:r>
              <a:rPr lang="pt-BR" dirty="0"/>
              <a:t> </a:t>
            </a:r>
            <a:r>
              <a:rPr lang="pt-BR" dirty="0" err="1"/>
              <a:t>Dependency</a:t>
            </a:r>
            <a:r>
              <a:rPr lang="pt-BR" dirty="0"/>
              <a:t> - </a:t>
            </a:r>
            <a:r>
              <a:rPr lang="pt-BR" dirty="0" err="1"/>
              <a:t>Definition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4AF297-726C-0F48-8060-687DE13D21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42285" cy="4351338"/>
          </a:xfrm>
        </p:spPr>
        <p:txBody>
          <a:bodyPr/>
          <a:lstStyle/>
          <a:p>
            <a:r>
              <a:rPr lang="en-US" dirty="0"/>
              <a:t>This smell arises when a package depends on other less stable package.</a:t>
            </a:r>
          </a:p>
          <a:p>
            <a:endParaRPr lang="en-US" dirty="0"/>
          </a:p>
          <a:p>
            <a:r>
              <a:rPr lang="en-US" dirty="0"/>
              <a:t>Instability of a package is computed as follows: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id="{E4960661-62DE-66D6-E17A-B6B763F538EA}"/>
              </a:ext>
            </a:extLst>
          </p:cNvPr>
          <p:cNvGrpSpPr/>
          <p:nvPr/>
        </p:nvGrpSpPr>
        <p:grpSpPr>
          <a:xfrm>
            <a:off x="2006628" y="4580227"/>
            <a:ext cx="2550382" cy="1076448"/>
            <a:chOff x="3850418" y="4685144"/>
            <a:chExt cx="2550382" cy="1076448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id="{29E0D206-82AF-8FB1-9F1E-E45DD598970E}"/>
                </a:ext>
              </a:extLst>
            </p:cNvPr>
            <p:cNvSpPr txBox="1"/>
            <p:nvPr/>
          </p:nvSpPr>
          <p:spPr>
            <a:xfrm>
              <a:off x="3850418" y="4946754"/>
              <a:ext cx="5437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dirty="0"/>
                <a:t>I =</a:t>
              </a:r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id="{DA86CE6E-00CA-2DB4-8172-A207D1F7B81E}"/>
                </a:ext>
              </a:extLst>
            </p:cNvPr>
            <p:cNvSpPr txBox="1"/>
            <p:nvPr/>
          </p:nvSpPr>
          <p:spPr>
            <a:xfrm>
              <a:off x="4725766" y="5238372"/>
              <a:ext cx="140134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dirty="0" err="1"/>
                <a:t>Ce</a:t>
              </a:r>
              <a:r>
                <a:rPr lang="pt-BR" sz="2800" dirty="0"/>
                <a:t> + Ca</a:t>
              </a:r>
            </a:p>
          </p:txBody>
        </p:sp>
        <p:cxnSp>
          <p:nvCxnSpPr>
            <p:cNvPr id="7" name="Conector reto 6">
              <a:extLst>
                <a:ext uri="{FF2B5EF4-FFF2-40B4-BE49-F238E27FC236}">
                  <a16:creationId xmlns:a16="http://schemas.microsoft.com/office/drawing/2014/main" id="{1FA18F01-0371-A197-5850-7CA1E817EE3E}"/>
                </a:ext>
              </a:extLst>
            </p:cNvPr>
            <p:cNvCxnSpPr/>
            <p:nvPr/>
          </p:nvCxnSpPr>
          <p:spPr>
            <a:xfrm>
              <a:off x="4452079" y="5208364"/>
              <a:ext cx="1948721" cy="0"/>
            </a:xfrm>
            <a:prstGeom prst="line">
              <a:avLst/>
            </a:prstGeom>
            <a:ln w="28575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CaixaDeTexto 7">
              <a:extLst>
                <a:ext uri="{FF2B5EF4-FFF2-40B4-BE49-F238E27FC236}">
                  <a16:creationId xmlns:a16="http://schemas.microsoft.com/office/drawing/2014/main" id="{057D6D23-1C61-CF0C-EFB0-424AF73FBFC3}"/>
                </a:ext>
              </a:extLst>
            </p:cNvPr>
            <p:cNvSpPr txBox="1"/>
            <p:nvPr/>
          </p:nvSpPr>
          <p:spPr>
            <a:xfrm>
              <a:off x="5115296" y="4685144"/>
              <a:ext cx="62228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800" dirty="0" err="1"/>
                <a:t>Ce</a:t>
              </a:r>
              <a:endParaRPr lang="pt-BR" sz="2800" dirty="0"/>
            </a:p>
          </p:txBody>
        </p:sp>
      </p:grpSp>
      <p:sp>
        <p:nvSpPr>
          <p:cNvPr id="10" name="CaixaDeTexto 9">
            <a:extLst>
              <a:ext uri="{FF2B5EF4-FFF2-40B4-BE49-F238E27FC236}">
                <a16:creationId xmlns:a16="http://schemas.microsoft.com/office/drawing/2014/main" id="{56A3B344-C370-EAF5-F7AF-72768EEC5C3C}"/>
              </a:ext>
            </a:extLst>
          </p:cNvPr>
          <p:cNvSpPr txBox="1"/>
          <p:nvPr/>
        </p:nvSpPr>
        <p:spPr>
          <a:xfrm>
            <a:off x="1082982" y="5940946"/>
            <a:ext cx="50043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000" i="1" dirty="0"/>
              <a:t>Ca - </a:t>
            </a:r>
            <a:r>
              <a:rPr lang="pt-BR" sz="2000" i="1" dirty="0" err="1"/>
              <a:t>Afferent</a:t>
            </a:r>
            <a:r>
              <a:rPr lang="pt-BR" sz="2000" i="1" dirty="0"/>
              <a:t> </a:t>
            </a:r>
            <a:r>
              <a:rPr lang="pt-BR" sz="2000" i="1" dirty="0" err="1"/>
              <a:t>Coupling</a:t>
            </a:r>
            <a:r>
              <a:rPr lang="pt-BR" sz="2000" i="1" dirty="0"/>
              <a:t> (</a:t>
            </a:r>
            <a:r>
              <a:rPr lang="pt-BR" sz="2000" i="1" dirty="0" err="1"/>
              <a:t>incoming</a:t>
            </a:r>
            <a:r>
              <a:rPr lang="pt-BR" sz="2000" i="1" dirty="0"/>
              <a:t> </a:t>
            </a:r>
            <a:r>
              <a:rPr lang="pt-BR" sz="2000" i="1" dirty="0" err="1"/>
              <a:t>coupling</a:t>
            </a:r>
            <a:r>
              <a:rPr lang="pt-BR" sz="2000" i="1" dirty="0"/>
              <a:t>)</a:t>
            </a:r>
          </a:p>
          <a:p>
            <a:r>
              <a:rPr lang="pt-BR" sz="2000" i="1" dirty="0" err="1"/>
              <a:t>Ce</a:t>
            </a:r>
            <a:r>
              <a:rPr lang="pt-BR" sz="2000" i="1" dirty="0"/>
              <a:t> - </a:t>
            </a:r>
            <a:r>
              <a:rPr lang="pt-BR" sz="2000" i="1" dirty="0" err="1"/>
              <a:t>Efferent</a:t>
            </a:r>
            <a:r>
              <a:rPr lang="pt-BR" sz="2000" i="1" dirty="0"/>
              <a:t> </a:t>
            </a:r>
            <a:r>
              <a:rPr lang="pt-BR" sz="2000" i="1" dirty="0" err="1"/>
              <a:t>Coupling</a:t>
            </a:r>
            <a:r>
              <a:rPr lang="pt-BR" sz="2000" i="1" dirty="0"/>
              <a:t> (</a:t>
            </a:r>
            <a:r>
              <a:rPr lang="pt-BR" sz="2000" i="1" dirty="0" err="1"/>
              <a:t>outcoming</a:t>
            </a:r>
            <a:r>
              <a:rPr lang="pt-BR" sz="2000" i="1" dirty="0"/>
              <a:t> </a:t>
            </a:r>
            <a:r>
              <a:rPr lang="pt-BR" sz="2000" i="1" dirty="0" err="1"/>
              <a:t>coupling</a:t>
            </a:r>
            <a:r>
              <a:rPr lang="pt-BR" sz="2000" i="1" dirty="0"/>
              <a:t>)</a:t>
            </a:r>
          </a:p>
        </p:txBody>
      </p:sp>
      <p:pic>
        <p:nvPicPr>
          <p:cNvPr id="12" name="Imagem 11" descr="Desenho preto e branco&#10;&#10;O conteúdo gerado por IA pode estar incorreto.">
            <a:extLst>
              <a:ext uri="{FF2B5EF4-FFF2-40B4-BE49-F238E27FC236}">
                <a16:creationId xmlns:a16="http://schemas.microsoft.com/office/drawing/2014/main" id="{2E4C17BD-0FCC-47CB-CDA8-3E7EBB6667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0316" y="2471266"/>
            <a:ext cx="4778114" cy="3185409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12262293-7FE9-2EC6-C867-A25802706CCA}"/>
              </a:ext>
            </a:extLst>
          </p:cNvPr>
          <p:cNvSpPr txBox="1"/>
          <p:nvPr/>
        </p:nvSpPr>
        <p:spPr>
          <a:xfrm>
            <a:off x="8405664" y="5078878"/>
            <a:ext cx="2356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generated</a:t>
            </a:r>
            <a:r>
              <a:rPr lang="pt-BR" i="1" dirty="0"/>
              <a:t> </a:t>
            </a:r>
            <a:r>
              <a:rPr lang="pt-BR" i="1" dirty="0" err="1"/>
              <a:t>by</a:t>
            </a:r>
            <a:r>
              <a:rPr lang="pt-BR" i="1" dirty="0"/>
              <a:t> </a:t>
            </a:r>
            <a:r>
              <a:rPr lang="pt-BR" i="1" dirty="0" err="1"/>
              <a:t>chatGPT</a:t>
            </a: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3807310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95D75-6CDD-8052-D09F-2BD1C2068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C050E7-5868-8958-CF7C-412D8EAA3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Insufficient</a:t>
            </a:r>
            <a:r>
              <a:rPr lang="pt-BR" dirty="0"/>
              <a:t> </a:t>
            </a:r>
            <a:r>
              <a:rPr lang="pt-BR" dirty="0" err="1"/>
              <a:t>Modularization</a:t>
            </a:r>
            <a:r>
              <a:rPr lang="pt-BR" dirty="0"/>
              <a:t>- </a:t>
            </a:r>
            <a:r>
              <a:rPr lang="pt-BR" dirty="0" err="1"/>
              <a:t>Definition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0F317C6-77AE-1159-C3D5-176618F36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 anchor="ctr"/>
          <a:lstStyle/>
          <a:p>
            <a:r>
              <a:rPr lang="en-US" dirty="0"/>
              <a:t>This smell arises when a class exists that has </a:t>
            </a:r>
            <a:r>
              <a:rPr lang="en-US" b="1" dirty="0"/>
              <a:t>not been completely decomposed</a:t>
            </a:r>
            <a:r>
              <a:rPr lang="en-US" dirty="0"/>
              <a:t>, and a further decomposition could reduce its size, implementation complexity, or both.</a:t>
            </a:r>
          </a:p>
          <a:p>
            <a:endParaRPr lang="en-US" dirty="0"/>
          </a:p>
        </p:txBody>
      </p:sp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80422C44-FCCC-57DB-F6F8-4F9A28C978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5527" y="2286794"/>
            <a:ext cx="5143500" cy="3429000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B69FB75-5F00-E236-940E-47994A0F0739}"/>
              </a:ext>
            </a:extLst>
          </p:cNvPr>
          <p:cNvSpPr txBox="1"/>
          <p:nvPr/>
        </p:nvSpPr>
        <p:spPr>
          <a:xfrm>
            <a:off x="8405664" y="5483610"/>
            <a:ext cx="2356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generated</a:t>
            </a:r>
            <a:r>
              <a:rPr lang="pt-BR" i="1" dirty="0"/>
              <a:t> </a:t>
            </a:r>
            <a:r>
              <a:rPr lang="pt-BR" i="1" dirty="0" err="1"/>
              <a:t>by</a:t>
            </a:r>
            <a:r>
              <a:rPr lang="pt-BR" i="1" dirty="0"/>
              <a:t> </a:t>
            </a:r>
            <a:r>
              <a:rPr lang="pt-BR" i="1" dirty="0" err="1"/>
              <a:t>chatGPT</a:t>
            </a: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1317434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563B8E-EC22-A68B-CD91-8E4447D88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2EC6FB-611B-58E7-8BB0-A91CADED6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Hub-like </a:t>
            </a:r>
            <a:r>
              <a:rPr lang="pt-BR" dirty="0" err="1"/>
              <a:t>Modularization</a:t>
            </a:r>
            <a:r>
              <a:rPr lang="pt-BR" dirty="0"/>
              <a:t>- </a:t>
            </a:r>
            <a:r>
              <a:rPr lang="pt-BR" dirty="0" err="1"/>
              <a:t>Definition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C4C1A7F-D256-CB26-0DB9-3117266F3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87452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smell arises when a class </a:t>
            </a:r>
            <a:r>
              <a:rPr lang="en-US" b="1" dirty="0"/>
              <a:t>has dependencies</a:t>
            </a:r>
            <a:r>
              <a:rPr lang="en-US" dirty="0"/>
              <a:t> (both incoming and outgoing) </a:t>
            </a:r>
            <a:r>
              <a:rPr lang="en-US" b="1" dirty="0"/>
              <a:t>with a large number of other classes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Any change to a class, on which many other classes depend, is difficult to change because the change in the class may lead to changes in the classes that depend on this class.</a:t>
            </a:r>
          </a:p>
        </p:txBody>
      </p:sp>
      <p:pic>
        <p:nvPicPr>
          <p:cNvPr id="5" name="Imagem 4" descr="Diagrama&#10;&#10;O conteúdo gerado por IA pode estar incorreto.">
            <a:extLst>
              <a:ext uri="{FF2B5EF4-FFF2-40B4-BE49-F238E27FC236}">
                <a16:creationId xmlns:a16="http://schemas.microsoft.com/office/drawing/2014/main" id="{F0C1FAED-5A23-097F-930C-4829EA0AF4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564" y="2248524"/>
            <a:ext cx="4620719" cy="3080479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9571D82-053D-70D8-6E06-A7536AC81136}"/>
              </a:ext>
            </a:extLst>
          </p:cNvPr>
          <p:cNvSpPr txBox="1"/>
          <p:nvPr/>
        </p:nvSpPr>
        <p:spPr>
          <a:xfrm>
            <a:off x="8405664" y="5258760"/>
            <a:ext cx="2356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i="1" dirty="0" err="1"/>
              <a:t>generated</a:t>
            </a:r>
            <a:r>
              <a:rPr lang="pt-BR" i="1" dirty="0"/>
              <a:t> </a:t>
            </a:r>
            <a:r>
              <a:rPr lang="pt-BR" i="1" dirty="0" err="1"/>
              <a:t>by</a:t>
            </a:r>
            <a:r>
              <a:rPr lang="pt-BR" i="1" dirty="0"/>
              <a:t> </a:t>
            </a:r>
            <a:r>
              <a:rPr lang="pt-BR" i="1" dirty="0" err="1"/>
              <a:t>chatGPT</a:t>
            </a:r>
            <a:endParaRPr lang="pt-BR" i="1" dirty="0"/>
          </a:p>
        </p:txBody>
      </p:sp>
    </p:spTree>
    <p:extLst>
      <p:ext uri="{BB962C8B-B14F-4D97-AF65-F5344CB8AC3E}">
        <p14:creationId xmlns:p14="http://schemas.microsoft.com/office/powerpoint/2010/main" val="3292117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5A8F9-3538-DD1B-082F-3FB5DEC193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E7E6C1-EAD5-906A-1037-7CAC65C58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Walkthrough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76DE54-506F-4FCF-A29F-CA5839B53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4086"/>
            <a:ext cx="10515600" cy="5231566"/>
          </a:xfrm>
        </p:spPr>
        <p:txBody>
          <a:bodyPr anchor="ctr">
            <a:normAutofit/>
          </a:bodyPr>
          <a:lstStyle/>
          <a:p>
            <a:r>
              <a:rPr lang="pt-BR" dirty="0" err="1"/>
              <a:t>We</a:t>
            </a:r>
            <a:r>
              <a:rPr lang="pt-BR" dirty="0"/>
              <a:t> </a:t>
            </a:r>
            <a:r>
              <a:rPr lang="pt-BR" dirty="0" err="1"/>
              <a:t>give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you</a:t>
            </a:r>
            <a:r>
              <a:rPr lang="pt-BR" dirty="0"/>
              <a:t> a </a:t>
            </a:r>
            <a:r>
              <a:rPr lang="pt-BR" dirty="0" err="1"/>
              <a:t>list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packages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classes in XLSX (Excel) </a:t>
            </a:r>
            <a:r>
              <a:rPr lang="pt-BR" dirty="0" err="1"/>
              <a:t>format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 err="1"/>
              <a:t>Each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these</a:t>
            </a:r>
            <a:r>
              <a:rPr lang="pt-BR" dirty="0"/>
              <a:t> </a:t>
            </a:r>
            <a:r>
              <a:rPr lang="pt-BR" dirty="0" err="1"/>
              <a:t>elements</a:t>
            </a:r>
            <a:r>
              <a:rPr lang="pt-BR" dirty="0"/>
              <a:t> </a:t>
            </a:r>
            <a:r>
              <a:rPr lang="pt-BR" dirty="0" err="1"/>
              <a:t>have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following</a:t>
            </a:r>
            <a:r>
              <a:rPr lang="pt-BR" dirty="0"/>
              <a:t> links:</a:t>
            </a:r>
          </a:p>
          <a:p>
            <a:pPr lvl="1"/>
            <a:r>
              <a:rPr lang="pt-BR" b="1" dirty="0" err="1"/>
              <a:t>repo</a:t>
            </a:r>
            <a:r>
              <a:rPr lang="pt-BR" b="1" dirty="0"/>
              <a:t> link</a:t>
            </a:r>
            <a:r>
              <a:rPr lang="pt-BR" dirty="0"/>
              <a:t>: a </a:t>
            </a:r>
            <a:r>
              <a:rPr lang="pt-BR" dirty="0" err="1"/>
              <a:t>reference</a:t>
            </a:r>
            <a:r>
              <a:rPr lang="pt-BR" dirty="0"/>
              <a:t> for its </a:t>
            </a:r>
            <a:r>
              <a:rPr lang="pt-BR" dirty="0" err="1"/>
              <a:t>code</a:t>
            </a:r>
            <a:r>
              <a:rPr lang="pt-BR" dirty="0"/>
              <a:t> </a:t>
            </a:r>
            <a:r>
              <a:rPr lang="pt-BR" dirty="0" err="1"/>
              <a:t>on</a:t>
            </a:r>
            <a:r>
              <a:rPr lang="pt-BR" dirty="0"/>
              <a:t> GitHub.</a:t>
            </a:r>
          </a:p>
          <a:p>
            <a:pPr lvl="1"/>
            <a:r>
              <a:rPr lang="pt-BR" b="1" dirty="0" err="1"/>
              <a:t>metrics</a:t>
            </a:r>
            <a:r>
              <a:rPr lang="pt-BR" b="1" dirty="0"/>
              <a:t> link</a:t>
            </a:r>
            <a:r>
              <a:rPr lang="pt-BR" dirty="0"/>
              <a:t>: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metrics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dependencies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element</a:t>
            </a:r>
            <a:r>
              <a:rPr lang="pt-BR" dirty="0"/>
              <a:t>.</a:t>
            </a:r>
          </a:p>
          <a:p>
            <a:pPr marL="457200" lvl="1" indent="0">
              <a:buNone/>
            </a:pPr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Use </a:t>
            </a:r>
            <a:r>
              <a:rPr lang="pt-BR" dirty="0" err="1"/>
              <a:t>these</a:t>
            </a:r>
            <a:r>
              <a:rPr lang="pt-BR" dirty="0"/>
              <a:t> </a:t>
            </a:r>
            <a:r>
              <a:rPr lang="pt-BR" dirty="0" err="1"/>
              <a:t>information</a:t>
            </a:r>
            <a:r>
              <a:rPr lang="pt-BR" dirty="0"/>
              <a:t> </a:t>
            </a:r>
            <a:r>
              <a:rPr lang="pt-BR" dirty="0" err="1"/>
              <a:t>to</a:t>
            </a:r>
            <a:r>
              <a:rPr lang="pt-BR" dirty="0"/>
              <a:t> </a:t>
            </a:r>
            <a:r>
              <a:rPr lang="pt-BR" dirty="0" err="1"/>
              <a:t>decided</a:t>
            </a:r>
            <a:r>
              <a:rPr lang="pt-BR" dirty="0"/>
              <a:t> </a:t>
            </a:r>
            <a:r>
              <a:rPr lang="pt-BR" dirty="0" err="1"/>
              <a:t>if</a:t>
            </a:r>
            <a:r>
              <a:rPr lang="pt-BR" dirty="0"/>
              <a:t> </a:t>
            </a:r>
            <a:r>
              <a:rPr lang="pt-BR" dirty="0" err="1"/>
              <a:t>an</a:t>
            </a:r>
            <a:r>
              <a:rPr lang="pt-BR" dirty="0"/>
              <a:t> </a:t>
            </a:r>
            <a:r>
              <a:rPr lang="pt-BR" dirty="0" err="1"/>
              <a:t>element</a:t>
            </a:r>
            <a:r>
              <a:rPr lang="pt-BR" dirty="0"/>
              <a:t> </a:t>
            </a:r>
            <a:r>
              <a:rPr lang="pt-BR" dirty="0" err="1"/>
              <a:t>is</a:t>
            </a:r>
            <a:r>
              <a:rPr lang="pt-BR" dirty="0"/>
              <a:t> </a:t>
            </a:r>
            <a:r>
              <a:rPr lang="pt-BR" dirty="0" err="1"/>
              <a:t>affected</a:t>
            </a:r>
            <a:r>
              <a:rPr lang="pt-BR" dirty="0"/>
              <a:t> (</a:t>
            </a:r>
            <a:r>
              <a:rPr lang="pt-BR" dirty="0" err="1"/>
              <a:t>or</a:t>
            </a:r>
            <a:r>
              <a:rPr lang="pt-BR" dirty="0"/>
              <a:t> </a:t>
            </a:r>
            <a:r>
              <a:rPr lang="pt-BR" dirty="0" err="1"/>
              <a:t>not</a:t>
            </a:r>
            <a:r>
              <a:rPr lang="pt-BR" dirty="0"/>
              <a:t>) </a:t>
            </a:r>
            <a:r>
              <a:rPr lang="pt-BR" dirty="0" err="1"/>
              <a:t>by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given</a:t>
            </a:r>
            <a:r>
              <a:rPr lang="pt-BR" dirty="0"/>
              <a:t> </a:t>
            </a:r>
            <a:r>
              <a:rPr lang="pt-BR" dirty="0" err="1"/>
              <a:t>architecture</a:t>
            </a:r>
            <a:r>
              <a:rPr lang="pt-BR" dirty="0"/>
              <a:t> </a:t>
            </a:r>
            <a:r>
              <a:rPr lang="pt-BR" dirty="0" err="1"/>
              <a:t>smell</a:t>
            </a:r>
            <a:r>
              <a:rPr lang="pt-BR" dirty="0"/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AD7003D-90B2-A6AE-5A3D-08C9CD43B8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4300253"/>
            <a:ext cx="10515600" cy="114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383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BC118-0335-03E2-AD6D-89963087A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3E2F6D-BEBD-1ECE-C204-FC9B05357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Package</a:t>
            </a:r>
            <a:r>
              <a:rPr lang="pt-BR" dirty="0"/>
              <a:t> </a:t>
            </a:r>
            <a:r>
              <a:rPr lang="pt-BR" dirty="0" err="1"/>
              <a:t>Smells</a:t>
            </a:r>
            <a:r>
              <a:rPr lang="pt-BR" dirty="0"/>
              <a:t> - </a:t>
            </a:r>
            <a:r>
              <a:rPr lang="pt-BR" dirty="0" err="1"/>
              <a:t>Metrics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748381D-C1A9-BB0C-8C7E-BD6501EFC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0934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 "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package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": "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package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fqn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",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 "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metrics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": {</a:t>
            </a:r>
          </a:p>
          <a:p>
            <a:pPr marL="914400" lvl="2" indent="0">
              <a:lnSpc>
                <a:spcPct val="80000"/>
              </a:lnSpc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   "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num_classes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": 3,</a:t>
            </a:r>
          </a:p>
          <a:p>
            <a:pPr marL="914400" lvl="2" indent="0">
              <a:lnSpc>
                <a:spcPct val="80000"/>
              </a:lnSpc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   "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loc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": 00, </a:t>
            </a:r>
            <a:r>
              <a:rPr lang="pt-BR" sz="16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pt-BR" sz="16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lines</a:t>
            </a:r>
            <a:r>
              <a:rPr lang="pt-BR" sz="16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6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pt-BR" sz="16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t-BR" sz="16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code</a:t>
            </a:r>
            <a:endParaRPr lang="pt-BR" sz="16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>
              <a:lnSpc>
                <a:spcPct val="80000"/>
              </a:lnSpc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   "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Ce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": 00, </a:t>
            </a:r>
            <a:r>
              <a:rPr lang="pt-BR" sz="16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pt-BR" sz="16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efferent</a:t>
            </a:r>
            <a:r>
              <a:rPr lang="pt-BR" sz="16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pt-BR" sz="16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outcome</a:t>
            </a:r>
            <a:r>
              <a:rPr lang="pt-BR" sz="16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r>
              <a:rPr lang="pt-BR" sz="16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coupling</a:t>
            </a:r>
            <a:endParaRPr lang="pt-BR" sz="16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lvl="2" indent="0">
              <a:lnSpc>
                <a:spcPct val="80000"/>
              </a:lnSpc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   "Ca": 00 </a:t>
            </a:r>
            <a:r>
              <a:rPr lang="pt-BR" sz="16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 </a:t>
            </a:r>
            <a:r>
              <a:rPr lang="pt-BR" sz="16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afferent</a:t>
            </a:r>
            <a:r>
              <a:rPr lang="pt-BR" sz="16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(income) </a:t>
            </a:r>
            <a:r>
              <a:rPr lang="pt-BR" sz="1600" dirty="0" err="1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coupling</a:t>
            </a:r>
            <a:endParaRPr lang="pt-BR" sz="1600" dirty="0">
              <a:solidFill>
                <a:schemeClr val="accent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1" indent="0">
              <a:lnSpc>
                <a:spcPct val="80000"/>
              </a:lnSpc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 },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 "classes": [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   {</a:t>
            </a:r>
          </a:p>
          <a:p>
            <a:pPr marL="914400" lvl="2" indent="0">
              <a:lnSpc>
                <a:spcPct val="80000"/>
              </a:lnSpc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     "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": "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class_name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",</a:t>
            </a:r>
          </a:p>
          <a:p>
            <a:pPr marL="914400" lvl="2" indent="0">
              <a:lnSpc>
                <a:spcPct val="80000"/>
              </a:lnSpc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     "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metrics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": {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class_metrics_list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},</a:t>
            </a:r>
          </a:p>
          <a:p>
            <a:pPr marL="914400" lvl="2" indent="0">
              <a:lnSpc>
                <a:spcPct val="80000"/>
              </a:lnSpc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     "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": [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outcome_class_dependencies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],</a:t>
            </a:r>
          </a:p>
          <a:p>
            <a:pPr marL="914400" lvl="2" indent="0">
              <a:lnSpc>
                <a:spcPct val="80000"/>
              </a:lnSpc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     "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dependents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": [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income_class_dependencies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]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 ],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 "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": [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outcome_package_dependencies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],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 "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dependents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": [ </a:t>
            </a:r>
            <a:r>
              <a:rPr lang="pt-BR" sz="1600" dirty="0" err="1">
                <a:latin typeface="Arial" panose="020B0604020202020204" pitchFamily="34" charset="0"/>
                <a:cs typeface="Arial" panose="020B0604020202020204" pitchFamily="34" charset="0"/>
              </a:rPr>
              <a:t>income_package_dependencies</a:t>
            </a: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 ]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pt-BR" sz="1600" b="1" dirty="0" err="1">
                <a:cs typeface="Arial" panose="020B0604020202020204" pitchFamily="34" charset="0"/>
              </a:rPr>
              <a:t>Class</a:t>
            </a:r>
            <a:r>
              <a:rPr lang="pt-BR" sz="1600" b="1" dirty="0">
                <a:cs typeface="Arial" panose="020B0604020202020204" pitchFamily="34" charset="0"/>
              </a:rPr>
              <a:t> </a:t>
            </a:r>
            <a:r>
              <a:rPr lang="pt-BR" sz="1600" b="1" dirty="0" err="1">
                <a:cs typeface="Arial" panose="020B0604020202020204" pitchFamily="34" charset="0"/>
              </a:rPr>
              <a:t>Metrics</a:t>
            </a:r>
            <a:r>
              <a:rPr lang="pt-BR" sz="1600" b="1" dirty="0">
                <a:cs typeface="Arial" panose="020B0604020202020204" pitchFamily="34" charset="0"/>
              </a:rPr>
              <a:t> </a:t>
            </a:r>
            <a:r>
              <a:rPr lang="pt-BR" sz="1600" b="1" dirty="0" err="1">
                <a:cs typeface="Arial" panose="020B0604020202020204" pitchFamily="34" charset="0"/>
              </a:rPr>
              <a:t>Glossary</a:t>
            </a:r>
            <a:r>
              <a:rPr lang="pt-BR" sz="1600" b="1" dirty="0">
                <a:cs typeface="Arial" panose="020B0604020202020204" pitchFamily="34" charset="0"/>
              </a:rPr>
              <a:t>:</a:t>
            </a:r>
            <a:r>
              <a:rPr lang="pt-BR" sz="1600" dirty="0">
                <a:cs typeface="Arial" panose="020B0604020202020204" pitchFamily="34" charset="0"/>
              </a:rPr>
              <a:t> </a:t>
            </a:r>
            <a:r>
              <a:rPr lang="pt-BR" sz="1600" dirty="0">
                <a:cs typeface="Arial" panose="020B0604020202020204" pitchFamily="34" charset="0"/>
                <a:hlinkClick r:id="rId2"/>
              </a:rPr>
              <a:t>https://www.designite-tools.com/docs/features_cs_new.html</a:t>
            </a:r>
            <a:endParaRPr lang="pt-BR" sz="1600" dirty="0"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None/>
            </a:pP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754887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BCF5E-3984-CF7E-233E-97A4376BF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5C1C89-5986-7109-3942-2DF206693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Class</a:t>
            </a:r>
            <a:r>
              <a:rPr lang="pt-BR" dirty="0"/>
              <a:t> </a:t>
            </a:r>
            <a:r>
              <a:rPr lang="pt-BR" dirty="0" err="1"/>
              <a:t>Smells</a:t>
            </a:r>
            <a:r>
              <a:rPr lang="pt-BR" dirty="0"/>
              <a:t> - </a:t>
            </a:r>
            <a:r>
              <a:rPr lang="pt-BR" dirty="0" err="1"/>
              <a:t>Metrics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A662ED-4663-30A6-940A-1708BD34F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35488"/>
            <a:ext cx="10515600" cy="4351338"/>
          </a:xfrm>
        </p:spPr>
        <p:txBody>
          <a:bodyPr>
            <a:noAutofit/>
          </a:bodyPr>
          <a:lstStyle/>
          <a:p>
            <a:pPr marL="0" indent="0">
              <a:lnSpc>
                <a:spcPct val="80000"/>
              </a:lnSpc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{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class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": "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class_name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",</a:t>
            </a:r>
          </a:p>
          <a:p>
            <a:pPr marL="914400" lvl="2" indent="0">
              <a:lnSpc>
                <a:spcPct val="80000"/>
              </a:lnSpc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     "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metrics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": {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class_metrics_list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},</a:t>
            </a:r>
          </a:p>
          <a:p>
            <a:pPr marL="914400" lvl="2" indent="0">
              <a:lnSpc>
                <a:spcPct val="80000"/>
              </a:lnSpc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     "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": [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outcome_class_dependencies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],</a:t>
            </a:r>
          </a:p>
          <a:p>
            <a:pPr marL="914400" lvl="2" indent="0">
              <a:lnSpc>
                <a:spcPct val="80000"/>
              </a:lnSpc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     "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dependents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": [ </a:t>
            </a:r>
            <a:r>
              <a:rPr lang="pt-BR" sz="2400" dirty="0" err="1">
                <a:latin typeface="Arial" panose="020B0604020202020204" pitchFamily="34" charset="0"/>
                <a:cs typeface="Arial" panose="020B0604020202020204" pitchFamily="34" charset="0"/>
              </a:rPr>
              <a:t>income_class_dependencies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]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  }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"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dependencies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": [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outcome_package_dependencies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],</a:t>
            </a:r>
          </a:p>
          <a:p>
            <a:pPr marL="457200" lvl="1" indent="0">
              <a:lnSpc>
                <a:spcPct val="80000"/>
              </a:lnSpc>
              <a:buNone/>
            </a:pP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 "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dependents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": [ </a:t>
            </a:r>
            <a:r>
              <a:rPr lang="pt-BR" dirty="0" err="1">
                <a:latin typeface="Arial" panose="020B0604020202020204" pitchFamily="34" charset="0"/>
                <a:cs typeface="Arial" panose="020B0604020202020204" pitchFamily="34" charset="0"/>
              </a:rPr>
              <a:t>income_package_dependencies</a:t>
            </a:r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 ]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}</a:t>
            </a:r>
          </a:p>
          <a:p>
            <a:pPr marL="0" indent="0">
              <a:lnSpc>
                <a:spcPct val="80000"/>
              </a:lnSpc>
              <a:buNone/>
            </a:pPr>
            <a:endParaRPr lang="pt-B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pt-BR" sz="2000" b="1" dirty="0" err="1">
                <a:cs typeface="Arial" panose="020B0604020202020204" pitchFamily="34" charset="0"/>
              </a:rPr>
              <a:t>Class</a:t>
            </a:r>
            <a:r>
              <a:rPr lang="pt-BR" sz="2000" b="1" dirty="0">
                <a:cs typeface="Arial" panose="020B0604020202020204" pitchFamily="34" charset="0"/>
              </a:rPr>
              <a:t> </a:t>
            </a:r>
            <a:r>
              <a:rPr lang="pt-BR" sz="2000" b="1" dirty="0" err="1">
                <a:cs typeface="Arial" panose="020B0604020202020204" pitchFamily="34" charset="0"/>
              </a:rPr>
              <a:t>Metrics</a:t>
            </a:r>
            <a:r>
              <a:rPr lang="pt-BR" sz="2000" b="1" dirty="0">
                <a:cs typeface="Arial" panose="020B0604020202020204" pitchFamily="34" charset="0"/>
              </a:rPr>
              <a:t> </a:t>
            </a:r>
            <a:r>
              <a:rPr lang="pt-BR" sz="2000" b="1" dirty="0" err="1">
                <a:cs typeface="Arial" panose="020B0604020202020204" pitchFamily="34" charset="0"/>
              </a:rPr>
              <a:t>Glossary</a:t>
            </a:r>
            <a:r>
              <a:rPr lang="pt-BR" sz="2000" b="1" dirty="0">
                <a:cs typeface="Arial" panose="020B0604020202020204" pitchFamily="34" charset="0"/>
              </a:rPr>
              <a:t>:</a:t>
            </a:r>
            <a:r>
              <a:rPr lang="pt-BR" sz="2000" dirty="0">
                <a:cs typeface="Arial" panose="020B0604020202020204" pitchFamily="34" charset="0"/>
              </a:rPr>
              <a:t> </a:t>
            </a:r>
            <a:r>
              <a:rPr lang="pt-BR" sz="2000" dirty="0">
                <a:cs typeface="Arial" panose="020B0604020202020204" pitchFamily="34" charset="0"/>
                <a:hlinkClick r:id="rId2"/>
              </a:rPr>
              <a:t>https://www.designite-tools.com/docs/features_cs_new.html</a:t>
            </a:r>
            <a:endParaRPr lang="pt-BR" sz="20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52096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599</Words>
  <Application>Microsoft Office PowerPoint</Application>
  <PresentationFormat>Widescreen</PresentationFormat>
  <Paragraphs>79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do Office</vt:lpstr>
      <vt:lpstr>Architecture Smells Dataset Experiment</vt:lpstr>
      <vt:lpstr>Welcome</vt:lpstr>
      <vt:lpstr>Architecture Smells</vt:lpstr>
      <vt:lpstr>God Component - Definition</vt:lpstr>
      <vt:lpstr>Unstable Dependency - Definition</vt:lpstr>
      <vt:lpstr>Insufficient Modularization- Definition</vt:lpstr>
      <vt:lpstr>Hub-like Modularization- Definition</vt:lpstr>
      <vt:lpstr>Walkthrough</vt:lpstr>
      <vt:lpstr>Package Smells - Metrics</vt:lpstr>
      <vt:lpstr>Class Smells - Metrics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Henrique Nunes</dc:creator>
  <cp:lastModifiedBy>Henrique Nunes</cp:lastModifiedBy>
  <cp:revision>1</cp:revision>
  <dcterms:created xsi:type="dcterms:W3CDTF">2026-02-19T19:30:48Z</dcterms:created>
  <dcterms:modified xsi:type="dcterms:W3CDTF">2026-02-19T21:39:57Z</dcterms:modified>
</cp:coreProperties>
</file>